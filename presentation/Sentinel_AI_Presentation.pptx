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" y="164592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ST. THOMAS INSTITUTE FOR SCIENCE AND TECHNOLOGY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42976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Financial Fraud Detection &amp; Support: </a:t>
            </a:r>
            <a:pPr indent="0" marL="0">
              <a:spcAft>
                <a:spcPts val="120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Automated real-time intelligence system inspecting payment transactions.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Hybrid Decision Intelligence: </a:t>
            </a:r>
            <a:pPr indent="0" marL="0">
              <a:spcAft>
                <a:spcPts val="120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Synthesizes supervised machine learning, behavioral baselines, and fraud rules.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Streaming Processing Pipeline: </a:t>
            </a:r>
            <a:pPr indent="0" marL="0">
              <a:spcAft>
                <a:spcPts val="120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Evaluates high-volume financial traffic with sub-15ms streaming latency.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Investigator Decision Support: </a:t>
            </a:r>
            <a:pPr indent="0" marL="0">
              <a:spcAft>
                <a:spcPts val="120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Delivers plain-language risk explanations without halting banking operations.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029200" y="1051560"/>
            <a:ext cx="3566160" cy="960120"/>
          </a:xfrm>
          <a:prstGeom prst="roundRect">
            <a:avLst>
              <a:gd name="adj" fmla="val 7619"/>
            </a:avLst>
          </a:prstGeom>
          <a:solidFill>
            <a:srgbClr val="F8F9FA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0640" y="1078992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Incoming Card Transaction</a:t>
            </a:r>
            <a:endParaRPr lang="en-US" sz="145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Card ID: 999   •   Amount: $750.00</a:t>
            </a:r>
            <a:endParaRPr lang="en-US" sz="145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Merchant: LuxuryJewelry   •   Loc: Singapore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812280" y="2039112"/>
            <a:ext cx="0" cy="274320"/>
          </a:xfrm>
          <a:prstGeom prst="line">
            <a:avLst/>
          </a:prstGeom>
          <a:noFill/>
          <a:ln w="2286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029200" y="2340864"/>
            <a:ext cx="35661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2286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66360" y="2377440"/>
            <a:ext cx="3291840" cy="12344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Sentinel AI Detection Engine</a:t>
            </a:r>
            <a:endParaRPr lang="en-US" sz="145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Supervised ML: Random Forest (0.50 weight)</a:t>
            </a:r>
            <a:endParaRPr lang="en-US" sz="145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Behavioral Baseline: Causal Windows (0.30 weight)</a:t>
            </a:r>
            <a:endParaRPr lang="en-US" sz="145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Deterministic Rules: 7 Business Logic Checks (0.20)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812280" y="3694176"/>
            <a:ext cx="0" cy="274320"/>
          </a:xfrm>
          <a:prstGeom prst="line">
            <a:avLst/>
          </a:prstGeom>
          <a:noFill/>
          <a:ln w="2286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029200" y="3995928"/>
            <a:ext cx="3566160" cy="960120"/>
          </a:xfrm>
          <a:prstGeom prst="roundRect">
            <a:avLst>
              <a:gd name="adj" fmla="val 7619"/>
            </a:avLst>
          </a:prstGeom>
          <a:solidFill>
            <a:srgbClr val="F8F9FA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0" y="4023360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Risk Score &amp; Investigation Alert</a:t>
            </a:r>
            <a:endParaRPr lang="en-US" sz="14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Decision: SUSPICIOUS (Score: 0.55)</a:t>
            </a:r>
            <a:endParaRPr lang="en-US" sz="14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Reason: Impossible travel &amp; amount 12.7x customer average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" y="164592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ST. THOMAS INSTITUTE FOR SCIENCE AND TECHNOLOGY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Abstract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80467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Fraud Problem: </a:t>
            </a:r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Surging electronic transactions require automated, low-latency detection of unauthorized card activity.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Personalized Behavioral Analytics: </a:t>
            </a:r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Combines ML models with dynamic cardholder spending baselines across sliding 1m, 10m, and 24h causal windows.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Real-Time Streaming Infrastructure: </a:t>
            </a:r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Engineered on Apache Kafka and Spark Structured Streaming to evaluate transactions in under 15 milliseconds.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Investigator Enablement: </a:t>
            </a:r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Produces composite risk scores alongside transparent, plain-English audit reasons for rapid dispute resolution.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3337560"/>
            <a:ext cx="1719072" cy="1508760"/>
          </a:xfrm>
          <a:prstGeom prst="roundRect">
            <a:avLst>
              <a:gd name="adj" fmla="val 4848"/>
            </a:avLst>
          </a:prstGeom>
          <a:solidFill>
            <a:srgbClr val="F8F9FA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3410712"/>
            <a:ext cx="1572768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Transaction</a:t>
            </a:r>
            <a:endParaRPr lang="en-US" sz="14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Event Ingestion</a:t>
            </a:r>
            <a:endParaRPr lang="en-US" sz="14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Kafka streaming buffer ensures zero packet loss.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2313432" y="4091940"/>
            <a:ext cx="292608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651760" y="3337560"/>
            <a:ext cx="1719072" cy="1508760"/>
          </a:xfrm>
          <a:prstGeom prst="roundRect">
            <a:avLst>
              <a:gd name="adj" fmla="val 4848"/>
            </a:avLst>
          </a:prstGeom>
          <a:solidFill>
            <a:srgbClr val="F8F9FA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24912" y="3410712"/>
            <a:ext cx="1572768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Analysis</a:t>
            </a:r>
            <a:endParaRPr lang="en-US" sz="14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Temporal Windows</a:t>
            </a:r>
            <a:endParaRPr lang="en-US" sz="14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Extracts features &amp; checks 1m/10m/24h velocity.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416552" y="4091940"/>
            <a:ext cx="292608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754880" y="3337560"/>
            <a:ext cx="1719072" cy="1508760"/>
          </a:xfrm>
          <a:prstGeom prst="roundRect">
            <a:avLst>
              <a:gd name="adj" fmla="val 4848"/>
            </a:avLst>
          </a:prstGeom>
          <a:solidFill>
            <a:srgbClr val="F8F9FA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28032" y="3410712"/>
            <a:ext cx="1572768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Risk Score</a:t>
            </a:r>
            <a:endParaRPr lang="en-US" sz="14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Hybrid Engine</a:t>
            </a:r>
            <a:endParaRPr lang="en-US" sz="14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Weights ML (0.50), behavior (0.30) &amp; rules (0.20).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519672" y="4091940"/>
            <a:ext cx="292608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858000" y="3337560"/>
            <a:ext cx="1719072" cy="1508760"/>
          </a:xfrm>
          <a:prstGeom prst="roundRect">
            <a:avLst>
              <a:gd name="adj" fmla="val 4848"/>
            </a:avLst>
          </a:prstGeom>
          <a:solidFill>
            <a:srgbClr val="F8F9FA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31152" y="3410712"/>
            <a:ext cx="1572768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Investigation</a:t>
            </a:r>
            <a:endParaRPr lang="en-US" sz="14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Decision Support</a:t>
            </a:r>
            <a:endParaRPr lang="en-US" sz="14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Opens case with plain-English audit reasons.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" y="164592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ST. THOMAS INSTITUTE FOR SCIENCE AND TECHNOLOGY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Massive Volumes: </a:t>
            </a:r>
            <a:pPr indent="0" marL="0">
              <a:spcAft>
                <a:spcPts val="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Millions of daily transactions make manual analyst review impossible.</a:t>
            </a:r>
            <a:endParaRPr lang="en-US" sz="14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Static Rule Limits: </a:t>
            </a:r>
            <a:pPr indent="0" marL="0">
              <a:spcAft>
                <a:spcPts val="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Rigid threshold rules miss complex schemes and trigger excessive false declines.</a:t>
            </a:r>
            <a:endParaRPr lang="en-US" sz="14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Latency &amp; Explainability: </a:t>
            </a:r>
            <a:pPr indent="0" marL="0">
              <a:spcAft>
                <a:spcPts val="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Batch detection delays response, while black-box models lack clear audit trails.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886200" cy="3063240"/>
          </a:xfrm>
          <a:prstGeom prst="roundRect">
            <a:avLst>
              <a:gd name="adj" fmla="val 2388"/>
            </a:avLst>
          </a:prstGeom>
          <a:solidFill>
            <a:srgbClr val="F8F9FA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98424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Traditional Fraud Detection (Limitations)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31520" y="2276856"/>
            <a:ext cx="3520440" cy="25146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Massive Volume: </a:t>
            </a:r>
            <a:pPr algn="l"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Manual analyst review is impossible across millions of hourly charges.</a:t>
            </a:r>
            <a:endParaRPr lang="en-US" sz="120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Rigid Static Limits: </a:t>
            </a:r>
            <a:pPr algn="l"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Fixed global thresholds ignore individual habits, causing high false declines.</a:t>
            </a:r>
            <a:endParaRPr lang="en-US" sz="120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Black-Box AI: </a:t>
            </a:r>
            <a:pPr algn="l"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Opaque neural probabilities fail to explain why transactions were flagged.</a:t>
            </a:r>
            <a:endParaRPr lang="en-US" sz="120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Settlement Latency: </a:t>
            </a:r>
            <a:pPr algn="l"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Overnight batch processing discovers fraud hours or days after funds are lost.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1874520"/>
            <a:ext cx="388620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98424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Sentinel AI Approach (Solutions)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892040" y="2276856"/>
            <a:ext cx="3520440" cy="25146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Automated Ingestion: </a:t>
            </a:r>
            <a:pPr algn="l"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Apache Kafka buffers high-throughput transaction streams with zero data loss.</a:t>
            </a:r>
            <a:endParaRPr lang="en-US" sz="120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Personalized Baselines: </a:t>
            </a:r>
            <a:pPr algn="l"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Dynamic spending profiles track customer-specific normal behavior in causal windows.</a:t>
            </a:r>
            <a:endParaRPr lang="en-US" sz="120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Explainable Hybrid Scoring: </a:t>
            </a:r>
            <a:pPr algn="l"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Combines ML, behavior, and 7 business rules with plain-language explanations.</a:t>
            </a:r>
            <a:endParaRPr lang="en-US" sz="120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Millisecond Response: </a:t>
            </a:r>
            <a:pPr algn="l"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Sub-15ms evaluation latency delivers immediate risk intelligence to analysts.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" y="164592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ST. THOMAS INSTITUTE FOR SCIENCE AND TECHNOLOGY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Architecture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Event-driven, decoupled big-data architecture verified in project codebase and container deployment.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Ingestion &amp; Streaming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18488"/>
            <a:ext cx="2331720" cy="1325880"/>
          </a:xfrm>
          <a:prstGeom prst="roundRect">
            <a:avLst>
              <a:gd name="adj" fmla="val 4138"/>
            </a:avLst>
          </a:prstGeom>
          <a:solidFill>
            <a:srgbClr val="F8F9FA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655064"/>
            <a:ext cx="2185416" cy="12344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Transaction Generator / API</a:t>
            </a:r>
            <a:endParaRPr lang="en-US" sz="13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Emits canonical JSON events</a:t>
            </a:r>
            <a:endParaRPr lang="en-US" sz="13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Simulates normal &amp; attack traffic</a:t>
            </a:r>
            <a:endParaRPr lang="en-US" sz="13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Canonical schema validation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1714500" y="2971800"/>
            <a:ext cx="0" cy="228600"/>
          </a:xfrm>
          <a:prstGeom prst="line">
            <a:avLst/>
          </a:prstGeom>
          <a:noFill/>
          <a:ln w="2286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48640" y="3227832"/>
            <a:ext cx="233172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3264408"/>
            <a:ext cx="2185416" cy="13258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Apache Kafka 3.7 (KRaft)</a:t>
            </a:r>
            <a:endParaRPr lang="en-US" sz="13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Topic: transactions-canonical</a:t>
            </a:r>
            <a:endParaRPr lang="en-US" sz="13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3 Distributed partitions</a:t>
            </a:r>
            <a:endParaRPr lang="en-US" sz="13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Resilient streaming buffer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2880360" y="3931920"/>
            <a:ext cx="411480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3337560" y="132588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Stream Processing &amp; Scoring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337560" y="1618488"/>
            <a:ext cx="2514600" cy="1325880"/>
          </a:xfrm>
          <a:prstGeom prst="roundRect">
            <a:avLst>
              <a:gd name="adj" fmla="val 4138"/>
            </a:avLst>
          </a:prstGeom>
          <a:solidFill>
            <a:srgbClr val="F8F9FA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10712" y="1655064"/>
            <a:ext cx="2368296" cy="12344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Spark Structured Streaming</a:t>
            </a:r>
            <a:endParaRPr lang="en-US" sz="13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Micro-batch processing engine</a:t>
            </a:r>
            <a:endParaRPr lang="en-US" sz="13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Feature normalization &amp; MCC</a:t>
            </a:r>
            <a:endParaRPr lang="en-US" sz="13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Causal windows: 1m, 10m, 24h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4594860" y="2971800"/>
            <a:ext cx="0" cy="228600"/>
          </a:xfrm>
          <a:prstGeom prst="line">
            <a:avLst/>
          </a:prstGeom>
          <a:noFill/>
          <a:ln w="2286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337560" y="3227832"/>
            <a:ext cx="251460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2286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10712" y="3264408"/>
            <a:ext cx="2368296" cy="13258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Hybrid Fraud Scoring Engine</a:t>
            </a:r>
            <a:endParaRPr lang="en-US" sz="13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0.50 × Random Forest ML</a:t>
            </a:r>
            <a:endParaRPr lang="en-US" sz="13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0.30 × Behavioral Anomaly Baseline</a:t>
            </a:r>
            <a:endParaRPr lang="en-US" sz="13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0.20 × 7 Deterministic Fraud Rules</a:t>
            </a:r>
            <a:endParaRPr lang="en-US" sz="135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Produces plain-English audit reasons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852160" y="3931920"/>
            <a:ext cx="411480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6263640" y="132588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Persistence &amp; Interfaces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263640" y="1618488"/>
            <a:ext cx="2331720" cy="1325880"/>
          </a:xfrm>
          <a:prstGeom prst="roundRect">
            <a:avLst>
              <a:gd name="adj" fmla="val 4138"/>
            </a:avLst>
          </a:prstGeom>
          <a:solidFill>
            <a:srgbClr val="F8F9FA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36792" y="1655064"/>
            <a:ext cx="2185416" cy="12344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PostgreSQL 15 / Supabase</a:t>
            </a:r>
            <a:endParaRPr lang="en-US" sz="135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Decoupled schema tables:</a:t>
            </a:r>
            <a:endParaRPr lang="en-US" sz="135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transactions, predictions, cases</a:t>
            </a:r>
            <a:endParaRPr lang="en-US" sz="13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Row-Level Security (RLS) policies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7429500" y="2971800"/>
            <a:ext cx="0" cy="228600"/>
          </a:xfrm>
          <a:prstGeom prst="line">
            <a:avLst/>
          </a:prstGeom>
          <a:noFill/>
          <a:ln w="2286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263640" y="3227832"/>
            <a:ext cx="233172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36792" y="3264408"/>
            <a:ext cx="2185416" cy="13258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FastAPI &amp; Web Applications</a:t>
            </a:r>
            <a:endParaRPr lang="en-US" sz="13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FastAPI backend (JWT &amp; RBAC)</a:t>
            </a:r>
            <a:endParaRPr lang="en-US" sz="13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Next.js 15 Investigator Portal</a:t>
            </a:r>
            <a:endParaRPr lang="en-US" sz="13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Streamlit Real-Time KPI Dashboard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" y="164592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ST. THOMAS INSTITUTE FOR SCIENCE AND TECHNOLOGY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Methodology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Transaction lifecycle: 6 sequential stages ensuring low-latency evaluation and explainable reasoning.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2468880" cy="1325880"/>
          </a:xfrm>
          <a:prstGeom prst="roundRect">
            <a:avLst>
              <a:gd name="adj" fmla="val 5517"/>
            </a:avLst>
          </a:prstGeom>
          <a:solidFill>
            <a:srgbClr val="F8F9FA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399032"/>
            <a:ext cx="2249424" cy="1179576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Step 1: Event Ingestion</a:t>
            </a:r>
            <a:endParaRPr lang="en-US" sz="140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Validates canonical schema and buffers transaction in Kafka topic (transactions-canonical).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37560" y="1325880"/>
            <a:ext cx="2468880" cy="1325880"/>
          </a:xfrm>
          <a:prstGeom prst="roundRect">
            <a:avLst>
              <a:gd name="adj" fmla="val 5517"/>
            </a:avLst>
          </a:prstGeom>
          <a:solidFill>
            <a:srgbClr val="F8F9FA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47288" y="1399032"/>
            <a:ext cx="2249424" cy="1179576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Step 2: Feature Extraction</a:t>
            </a:r>
            <a:endParaRPr lang="en-US" sz="140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Computes normalized amount, log1p, cyclic time (hour sin/cos), MCC weight, and channel risk.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26480" y="1325880"/>
            <a:ext cx="2468880" cy="1325880"/>
          </a:xfrm>
          <a:prstGeom prst="roundRect">
            <a:avLst>
              <a:gd name="adj" fmla="val 5517"/>
            </a:avLst>
          </a:prstGeom>
          <a:solidFill>
            <a:srgbClr val="F8F9FA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36208" y="1399032"/>
            <a:ext cx="2249424" cy="1179576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Step 3: Behavioral Profiling</a:t>
            </a:r>
            <a:endParaRPr lang="en-US" sz="140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Evaluates spending velocity across sliding 1m, 10m, and 24h causal windows to detect deviations.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834640"/>
            <a:ext cx="2468880" cy="1325880"/>
          </a:xfrm>
          <a:prstGeom prst="roundRect">
            <a:avLst>
              <a:gd name="adj" fmla="val 5517"/>
            </a:avLst>
          </a:prstGeom>
          <a:solidFill>
            <a:srgbClr val="F8F9FA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907792"/>
            <a:ext cx="2249424" cy="1179576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Step 4: Hybrid Risk Scoring</a:t>
            </a:r>
            <a:endParaRPr lang="en-US" sz="140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Evaluates Random Forest (0.50), behavioral baseline (0.30), and 7 business rules (0.20).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337560" y="2834640"/>
            <a:ext cx="2468880" cy="1325880"/>
          </a:xfrm>
          <a:prstGeom prst="roundRect">
            <a:avLst>
              <a:gd name="adj" fmla="val 5517"/>
            </a:avLst>
          </a:prstGeom>
          <a:solidFill>
            <a:srgbClr val="F8F9FA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47288" y="2907792"/>
            <a:ext cx="2249424" cy="1179576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Step 5: Database Persistence</a:t>
            </a:r>
            <a:endParaRPr lang="en-US" sz="140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Persists records to decoupled PostgreSQL tables (transactions, predictions, fraud_cases).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26480" y="2834640"/>
            <a:ext cx="2468880" cy="1325880"/>
          </a:xfrm>
          <a:prstGeom prst="roundRect">
            <a:avLst>
              <a:gd name="adj" fmla="val 5517"/>
            </a:avLst>
          </a:prstGeom>
          <a:solidFill>
            <a:srgbClr val="F8F9FA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36208" y="2907792"/>
            <a:ext cx="2249424" cy="1179576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Step 6: Investigator Telemetry</a:t>
            </a:r>
            <a:endParaRPr lang="en-US" sz="140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Displays risk breakdown, telemetry, and plain-English audit reasons on the Next.js portal.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4389120"/>
            <a:ext cx="804672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416552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Implemented Scoring Formula: </a:t>
            </a:r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Final Score = (0.50 × ML Score) + (0.30 × Behavior Score) + (0.20 × Rule Score)</a:t>
            </a:r>
            <a:endParaRPr lang="en-US" sz="130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Decision Boundaries: </a:t>
            </a:r>
            <a:pPr algn="ctr"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Legitimate (&lt; 0.40)   •   Suspicious (0.40 – 0.69)   •   Fraud (≥ 0.70)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" y="164592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ST. THOMAS INSTITUTE FOR SCIENCE AND TECHNOLOGY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 Case Diagram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Standard UML Use Case Diagram matching implemented role permissions and PostgreSQL RLS security.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194560" y="1353312"/>
            <a:ext cx="4754880" cy="3611880"/>
          </a:xfrm>
          <a:prstGeom prst="rect">
            <a:avLst/>
          </a:prstGeom>
          <a:solidFill>
            <a:srgbClr val="FFFFFF"/>
          </a:solidFill>
          <a:ln w="2286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77440" y="1426464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Sentinel AI System Boundary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423160" y="1719072"/>
            <a:ext cx="2057400" cy="502920"/>
          </a:xfrm>
          <a:prstGeom prst="ellipse">
            <a:avLst/>
          </a:prstGeom>
          <a:solidFill>
            <a:srgbClr val="F8F9FA"/>
          </a:solidFill>
          <a:ln w="1651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0" y="1746504"/>
            <a:ext cx="19659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Manage User Access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&amp; Storage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719072"/>
            <a:ext cx="2057400" cy="502920"/>
          </a:xfrm>
          <a:prstGeom prst="ellipse">
            <a:avLst/>
          </a:prstGeom>
          <a:solidFill>
            <a:srgbClr val="F8F9FA"/>
          </a:solidFill>
          <a:ln w="1651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1746504"/>
            <a:ext cx="19659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View Analytics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 Health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547872" y="2359152"/>
            <a:ext cx="2057400" cy="475488"/>
          </a:xfrm>
          <a:prstGeom prst="ellipse">
            <a:avLst/>
          </a:prstGeom>
          <a:solidFill>
            <a:srgbClr val="F8F9FA"/>
          </a:solidFill>
          <a:ln w="1651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93592" y="2386584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Sign In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Authenticate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23160" y="2971800"/>
            <a:ext cx="2057400" cy="502920"/>
          </a:xfrm>
          <a:prstGeom prst="ellipse">
            <a:avLst/>
          </a:prstGeom>
          <a:solidFill>
            <a:srgbClr val="F8F9FA"/>
          </a:solidFill>
          <a:ln w="1651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68880" y="2999232"/>
            <a:ext cx="19659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Monitor Live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Transactions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423160" y="3611880"/>
            <a:ext cx="2057400" cy="502920"/>
          </a:xfrm>
          <a:prstGeom prst="ellipse">
            <a:avLst/>
          </a:prstGeom>
          <a:solidFill>
            <a:srgbClr val="F8F9FA"/>
          </a:solidFill>
          <a:ln w="1651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68880" y="3639312"/>
            <a:ext cx="19659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Inspect Transaction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Details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423160" y="4251960"/>
            <a:ext cx="2057400" cy="502920"/>
          </a:xfrm>
          <a:prstGeom prst="ellipse">
            <a:avLst/>
          </a:prstGeom>
          <a:solidFill>
            <a:srgbClr val="F8F9FA"/>
          </a:solidFill>
          <a:ln w="1651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68880" y="4279392"/>
            <a:ext cx="19659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Review &amp; Resolve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Fraud Cases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3154680"/>
            <a:ext cx="2057400" cy="502920"/>
          </a:xfrm>
          <a:prstGeom prst="ellipse">
            <a:avLst/>
          </a:prstGeom>
          <a:solidFill>
            <a:srgbClr val="F8F9FA"/>
          </a:solidFill>
          <a:ln w="1651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3182112"/>
            <a:ext cx="19659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View Personal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Transactions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3886200"/>
            <a:ext cx="2057400" cy="502920"/>
          </a:xfrm>
          <a:prstGeom prst="ellipse">
            <a:avLst/>
          </a:prstGeom>
          <a:solidFill>
            <a:srgbClr val="F8F9FA"/>
          </a:solidFill>
          <a:ln w="1651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3913632"/>
            <a:ext cx="19659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Report Unrecognized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Charge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68680" y="1508760"/>
            <a:ext cx="274320" cy="2743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05840" y="1783080"/>
            <a:ext cx="0" cy="27432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" y="1892808"/>
            <a:ext cx="36576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05840" y="2057400"/>
            <a:ext cx="-137160" cy="201168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05840" y="2057400"/>
            <a:ext cx="137160" cy="201168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22860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Administrator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1234440" y="1874520"/>
            <a:ext cx="1188720" cy="9144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234440" y="1920240"/>
            <a:ext cx="2313432" cy="64008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68680" y="3200400"/>
            <a:ext cx="274320" cy="2743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05840" y="3474720"/>
            <a:ext cx="0" cy="27432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2960" y="3584448"/>
            <a:ext cx="36576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05840" y="3749040"/>
            <a:ext cx="-137160" cy="201168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05840" y="3749040"/>
            <a:ext cx="137160" cy="201168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39776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Fraud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Investigator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1234440" y="3474720"/>
            <a:ext cx="1188720" cy="-256032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234440" y="3611880"/>
            <a:ext cx="1188720" cy="22860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234440" y="3703320"/>
            <a:ext cx="1188720" cy="77724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772400" y="2743200"/>
            <a:ext cx="274320" cy="2743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909560" y="3017520"/>
            <a:ext cx="0" cy="27432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726680" y="3127248"/>
            <a:ext cx="36576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909560" y="3291840"/>
            <a:ext cx="-137160" cy="201168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909560" y="3291840"/>
            <a:ext cx="137160" cy="201168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178040" y="35204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Customer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(Cardholder)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6720840" y="3337560"/>
            <a:ext cx="1051560" cy="-9144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720840" y="4069080"/>
            <a:ext cx="1051560" cy="-73152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" y="164592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ST. THOMAS INSTITUTE FOR SCIENCE AND TECHNOLOGY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Hybrid AI Intelligence: </a:t>
            </a:r>
            <a:pPr indent="0" marL="0">
              <a:spcAft>
                <a:spcPts val="4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Combines ML (0.50), behavioral baselines (0.30), and 7 fraud rules (0.20).</a:t>
            </a:r>
            <a:endParaRPr lang="en-US" sz="14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Streaming Pipeline: </a:t>
            </a:r>
            <a:pPr indent="0" marL="0">
              <a:spcAft>
                <a:spcPts val="4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Demonstrates sub-15ms real-time processing via Apache Kafka and Spark.</a:t>
            </a:r>
            <a:endParaRPr lang="en-US" sz="14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Investigator Enablement: </a:t>
            </a:r>
            <a:pPr indent="0" marL="0">
              <a:spcAft>
                <a:spcPts val="4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Generates composite risk scores and plain-language explainable audit reasons.</a:t>
            </a:r>
            <a:endParaRPr lang="en-US" sz="14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Production Extensibility: </a:t>
            </a:r>
            <a:pPr indent="0" marL="0">
              <a:spcAft>
                <a:spcPts val="4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Modular foundation readily extensible to core banking APIs and active learning.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8046720" cy="2651760"/>
          </a:xfrm>
          <a:prstGeom prst="roundRect">
            <a:avLst>
              <a:gd name="adj" fmla="val 2759"/>
            </a:avLst>
          </a:prstGeom>
          <a:solidFill>
            <a:srgbClr val="F8F9FA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35000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Scope, Data Transparency &amp; Academic Boundary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31520" y="2660904"/>
            <a:ext cx="7680960" cy="20574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Anonymized Benchmark Dataset: </a:t>
            </a:r>
            <a:pPr algn="l"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Offline model benchmarking conducted on public ULB Kaggle fraud dataset (284,807 transactions across 48 hours).</a:t>
            </a:r>
            <a:endParaRPr lang="en-US" sz="12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Synthetic Streaming Scenarios: </a:t>
            </a:r>
            <a:pPr algn="l"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Live demonstration identities (card_id), merchant names, and travel sequences are synthetic simulations.</a:t>
            </a:r>
            <a:endParaRPr lang="en-US" sz="12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Analytical Decision Support: </a:t>
            </a:r>
            <a:pPr algn="l"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Sentinel AI operates as an analytical investigation platform; it does not freeze bank accounts or connect to live card networks.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2026-10-11T09:20:09Z</dcterms:created>
  <dcterms:modified xsi:type="dcterms:W3CDTF">2026-10-11T09:20:09Z</dcterms:modified>
</cp:coreProperties>
</file>