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" y="164592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ST. THOMAS INSTITUTE FOR SCIENCE AND TECHNOLOGY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Methodology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Transaction lifecycle: 6 sequential stages ensuring low-latency evaluation and explainable reasoning.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2468880" cy="1325880"/>
          </a:xfrm>
          <a:prstGeom prst="roundRect">
            <a:avLst>
              <a:gd name="adj" fmla="val 5517"/>
            </a:avLst>
          </a:prstGeom>
          <a:solidFill>
            <a:srgbClr val="F8F9FA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399032"/>
            <a:ext cx="2249424" cy="1179576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Step 1: Event Ingestion</a:t>
            </a:r>
            <a:endParaRPr lang="en-US" sz="140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Validates canonical schema and buffers transaction in Kafka topic (transactions-canonical).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337560" y="1325880"/>
            <a:ext cx="2468880" cy="1325880"/>
          </a:xfrm>
          <a:prstGeom prst="roundRect">
            <a:avLst>
              <a:gd name="adj" fmla="val 5517"/>
            </a:avLst>
          </a:prstGeom>
          <a:solidFill>
            <a:srgbClr val="F8F9FA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47288" y="1399032"/>
            <a:ext cx="2249424" cy="1179576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Step 2: Feature Extraction</a:t>
            </a:r>
            <a:endParaRPr lang="en-US" sz="140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Computes normalized amount, log1p, cyclic time (hour sin/cos), MCC weight, and channel risk.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26480" y="1325880"/>
            <a:ext cx="2468880" cy="1325880"/>
          </a:xfrm>
          <a:prstGeom prst="roundRect">
            <a:avLst>
              <a:gd name="adj" fmla="val 5517"/>
            </a:avLst>
          </a:prstGeom>
          <a:solidFill>
            <a:srgbClr val="F8F9FA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36208" y="1399032"/>
            <a:ext cx="2249424" cy="1179576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Step 3: Behavioral Profiling</a:t>
            </a:r>
            <a:endParaRPr lang="en-US" sz="140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Evaluates spending velocity across sliding 1m, 10m, and 24h causal windows to detect deviations.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2834640"/>
            <a:ext cx="2468880" cy="1325880"/>
          </a:xfrm>
          <a:prstGeom prst="roundRect">
            <a:avLst>
              <a:gd name="adj" fmla="val 5517"/>
            </a:avLst>
          </a:prstGeom>
          <a:solidFill>
            <a:srgbClr val="F8F9FA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2907792"/>
            <a:ext cx="2249424" cy="1179576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Step 4: Hybrid Risk Scoring</a:t>
            </a:r>
            <a:endParaRPr lang="en-US" sz="140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Evaluates Random Forest (0.50), behavioral baseline (0.30), and 7 business rules (0.20).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337560" y="2834640"/>
            <a:ext cx="2468880" cy="1325880"/>
          </a:xfrm>
          <a:prstGeom prst="roundRect">
            <a:avLst>
              <a:gd name="adj" fmla="val 5517"/>
            </a:avLst>
          </a:prstGeom>
          <a:solidFill>
            <a:srgbClr val="F8F9FA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47288" y="2907792"/>
            <a:ext cx="2249424" cy="1179576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Step 5: Database Persistence</a:t>
            </a:r>
            <a:endParaRPr lang="en-US" sz="140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Persists records to decoupled PostgreSQL tables (transactions, predictions, fraud_cases).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126480" y="2834640"/>
            <a:ext cx="2468880" cy="1325880"/>
          </a:xfrm>
          <a:prstGeom prst="roundRect">
            <a:avLst>
              <a:gd name="adj" fmla="val 5517"/>
            </a:avLst>
          </a:prstGeom>
          <a:solidFill>
            <a:srgbClr val="F8F9FA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36208" y="2907792"/>
            <a:ext cx="2249424" cy="1179576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Step 6: Investigator Telemetry</a:t>
            </a:r>
            <a:endParaRPr lang="en-US" sz="140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Displays risk breakdown, telemetry, and plain-English audit reasons on the Next.js portal.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4389120"/>
            <a:ext cx="804672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4416552"/>
            <a:ext cx="7863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Implemented Scoring Formula: </a:t>
            </a:r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Final Score = (0.50 × ML Score) + (0.30 × Behavior Score) + (0.20 × Rule Score)</a:t>
            </a:r>
            <a:endParaRPr lang="en-US" sz="130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Decision Boundaries: </a:t>
            </a:r>
            <a:pPr algn="ctr"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Legitimate (&lt; 0.40)   •   Suspicious (0.40 – 0.69)   •   Fraud (≥ 0.70)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2026-10-11T09:20:09Z</dcterms:created>
  <dcterms:modified xsi:type="dcterms:W3CDTF">2026-10-11T09:20:09Z</dcterms:modified>
</cp:coreProperties>
</file>